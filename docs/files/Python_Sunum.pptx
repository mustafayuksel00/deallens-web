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ad667f4e5442e3" /><Relationship Type="http://schemas.openxmlformats.org/officeDocument/2006/relationships/extended-properties" Target="/docProps/app.xml" Id="Rb3adcdfd6c9f4970" /><Relationship Type="http://schemas.openxmlformats.org/officeDocument/2006/relationships/officeDocument" Target="/ppt/presentation.xml" Id="R150ddcf50e7547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a526703a124776"/>
  </p:sldMasterIdLst>
  <p:notesMasterIdLst>
    <p:notesMasterId xmlns:r="http://schemas.openxmlformats.org/officeDocument/2006/relationships" r:id="R4f3d7e5164574e88"/>
  </p:notesMasterIdLst>
  <p:sldIdLst>
    <p:sldId xmlns:r="http://schemas.openxmlformats.org/officeDocument/2006/relationships" id="256" r:id="R9350cd3ddb584a98"/>
    <p:sldId xmlns:r="http://schemas.openxmlformats.org/officeDocument/2006/relationships" id="257" r:id="Rd6a1832990da41c0"/>
    <p:sldId xmlns:r="http://schemas.openxmlformats.org/officeDocument/2006/relationships" id="258" r:id="R93646c96700c4379"/>
    <p:sldId xmlns:r="http://schemas.openxmlformats.org/officeDocument/2006/relationships" id="259" r:id="Rc98c2bc266294f07"/>
    <p:sldId xmlns:r="http://schemas.openxmlformats.org/officeDocument/2006/relationships" id="260" r:id="R5319021472ad47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175ba8184d45c3" /><Relationship Type="http://schemas.openxmlformats.org/officeDocument/2006/relationships/slideMaster" Target="/ppt/slideMasters/slideMaster1.xml" Id="R11a526703a124776" /><Relationship Type="http://schemas.openxmlformats.org/officeDocument/2006/relationships/notesMaster" Target="/ppt/notesMasters/notesMaster1.xml" Id="R4f3d7e5164574e88" /><Relationship Type="http://schemas.openxmlformats.org/officeDocument/2006/relationships/presProps" Target="/ppt/presProps.xml" Id="R522da171c5c24f05" /><Relationship Type="http://schemas.openxmlformats.org/officeDocument/2006/relationships/tableStyles" Target="/ppt/tableStyles.xml" Id="R33495846a1d6495b" /><Relationship Type="http://schemas.openxmlformats.org/officeDocument/2006/relationships/slide" Target="/ppt/slides/slide1.xml" Id="R9350cd3ddb584a98" /><Relationship Type="http://schemas.openxmlformats.org/officeDocument/2006/relationships/slide" Target="/ppt/slides/slide2.xml" Id="Rd6a1832990da41c0" /><Relationship Type="http://schemas.openxmlformats.org/officeDocument/2006/relationships/slide" Target="/ppt/slides/slide3.xml" Id="R93646c96700c4379" /><Relationship Type="http://schemas.openxmlformats.org/officeDocument/2006/relationships/slide" Target="/ppt/slides/slide4.xml" Id="Rc98c2bc266294f07" /><Relationship Type="http://schemas.openxmlformats.org/officeDocument/2006/relationships/slide" Target="/ppt/slides/slide5.xml" Id="R5319021472ad47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920c98b6cc48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1cb915e4ab4b68" /><Relationship Type="http://schemas.openxmlformats.org/officeDocument/2006/relationships/notesMaster" Target="/ppt/notesMasters/notesMaster1.xml" Id="R5bb678b054884a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4f409b9ae84a86" /><Relationship Type="http://schemas.openxmlformats.org/officeDocument/2006/relationships/notesMaster" Target="/ppt/notesMasters/notesMaster1.xml" Id="R0cb189aea0f340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d5aaae53014355" /><Relationship Type="http://schemas.openxmlformats.org/officeDocument/2006/relationships/notesMaster" Target="/ppt/notesMasters/notesMaster1.xml" Id="R1b96438c27ec4a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b1421b93b44e01" /><Relationship Type="http://schemas.openxmlformats.org/officeDocument/2006/relationships/notesMaster" Target="/ppt/notesMasters/notesMaster1.xml" Id="R4a3df08b963c44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1885e1a0db498f" /><Relationship Type="http://schemas.openxmlformats.org/officeDocument/2006/relationships/notesMaster" Target="/ppt/notesMasters/notesMaster1.xml" Id="R759431f0f74c49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Tomczak S. 2016, UCI Polish Companies Bankruptcy, CC BY 4.0. https://archive.ics.uci.edu/dataset/365/polish+companies+bankruptcy+data Erişim 08.10.2026.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Veri: data/preparation_manifest.json. Sınıf dağılımı 5910 ham kayıt üzerinden. Tekrarları silmek yerine aynı 64 girdili satırlar gruplandı.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Protokol outputs/revised/protocol.json. Karar selection_before_test.json. Model 64 adayların train CV average precision puanıyla seçildi. Validation eşiği ayrı bölümde. Veri daha önce incelendiği için bağımsız dış test iddiası yok.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outputs/revised/results.json. Confusion matrix TN1082 FP18 FN26 TP56. Seçilen model CatBoost 64 indicators depth5. Depth4 göstergeli adayın test F1 değeri daha yüksek olsa da seçim eğitim CV puanından değiştirilmiyor.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64 finansal oran sözlüğü UCI kaynak formüllerini içerir. Attr29 log tabanı ve Attr55 para birimi/ölçek belirtilmemiştir. Attr48/49 EBITDA adı ve kaynak çıkarma formülü belirsizliği korunur. Kalibrasyon veya dış veri testi yapılmadı.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a6ddce56384f9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eb045afb4f496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342b10f50f444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f8c008b3fb40c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a9d8c557d4440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6f63ab1eb34f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144A7F-540C-4FB1-9ECB-03E5679564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221436F-9635-43C2-B377-1110BF4C92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61A9156-08CA-4C12-AFF6-47DCDE39E8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3F2959-9D5B-4331-8DC9-D9474AB926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D7499B5-5BF4-4C51-A1C7-A80BA6B5FC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0E6A1BA-D39D-450C-96F0-77108E41C8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048F0A-F831-4798-A619-9FBCF0BF63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68AEE21-A7E8-4A87-82C5-F8052E989A5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6D578B-51C1-43F8-A2EE-E186B6FD3B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AEF3642-63CD-48E1-AD77-59F98ECC79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a8e073aa3e4a5c" /><Relationship Type="http://schemas.openxmlformats.org/officeDocument/2006/relationships/slideLayout" Target="/ppt/slideLayouts/slideLayout1.xml" Id="Rb83c68475e304d6b" /><Relationship Type="http://schemas.openxmlformats.org/officeDocument/2006/relationships/slideLayout" Target="/ppt/slideLayouts/slideLayout2.xml" Id="R73d349ec102743ce" /><Relationship Type="http://schemas.openxmlformats.org/officeDocument/2006/relationships/slideLayout" Target="/ppt/slideLayouts/slideLayout3.xml" Id="Rf57915b3809f4c4d" /><Relationship Type="http://schemas.openxmlformats.org/officeDocument/2006/relationships/slideLayout" Target="/ppt/slideLayouts/slideLayout4.xml" Id="Re15153a7d1c248d5" /><Relationship Type="http://schemas.openxmlformats.org/officeDocument/2006/relationships/slideLayout" Target="/ppt/slideLayouts/slideLayout5.xml" Id="R9aef6ecd78294023" /><Relationship Type="http://schemas.openxmlformats.org/officeDocument/2006/relationships/slideLayout" Target="/ppt/slideLayouts/slideLayout6.xml" Id="R55febcc4ef294d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3c68475e304d6b"/>
    <p:sldLayoutId xmlns:r="http://schemas.openxmlformats.org/officeDocument/2006/relationships" id="2147483650" r:id="R73d349ec102743ce"/>
    <p:sldLayoutId xmlns:r="http://schemas.openxmlformats.org/officeDocument/2006/relationships" id="2147483651" r:id="Rf57915b3809f4c4d"/>
    <p:sldLayoutId xmlns:r="http://schemas.openxmlformats.org/officeDocument/2006/relationships" id="2147483652" r:id="Re15153a7d1c248d5"/>
    <p:sldLayoutId xmlns:r="http://schemas.openxmlformats.org/officeDocument/2006/relationships" id="2147483653" r:id="R9aef6ecd78294023"/>
    <p:sldLayoutId xmlns:r="http://schemas.openxmlformats.org/officeDocument/2006/relationships" id="2147483654" r:id="R55febcc4ef294d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9d4b2386944170" /><Relationship Type="http://schemas.openxmlformats.org/officeDocument/2006/relationships/notesSlide" Target="/ppt/notesSlides/notesSlide1.xml" Id="Rf8a04b7c26aa4e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43b9f884134f3e" /><Relationship Type="http://schemas.openxmlformats.org/officeDocument/2006/relationships/chart" Target="/ppt/slides/charts/chart1.xml" Id="R3f482b7b33804c3e" /><Relationship Type="http://schemas.openxmlformats.org/officeDocument/2006/relationships/notesSlide" Target="/ppt/notesSlides/notesSlide2.xml" Id="Rd223fa812cd846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08a9ba132548fb" /><Relationship Type="http://schemas.openxmlformats.org/officeDocument/2006/relationships/notesSlide" Target="/ppt/notesSlides/notesSlide3.xml" Id="Re6ed5437f5a84d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f488f71da845f4" /><Relationship Type="http://schemas.openxmlformats.org/officeDocument/2006/relationships/notesSlide" Target="/ppt/notesSlides/notesSlide4.xml" Id="R954fe3ee07b848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06b197e4d94633" /><Relationship Type="http://schemas.openxmlformats.org/officeDocument/2006/relationships/notesSlide" Target="/ppt/notesSlides/notesSlide5.xml" Id="Rce09789069934f8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Kayıt</c:v>
          </c:tx>
          <c:spPr>
            <a:solidFill xmlns:a="http://schemas.openxmlformats.org/drawingml/2006/main">
              <a:srgbClr val="167D8D"/>
            </a:solidFill>
          </c:spPr>
          <c:cat>
            <c:strRef>
              <c:f>'Chart Data'!$A$2:$A$3</c:f>
              <c:strCache>
                <c:ptCount val="2"/>
                <c:pt idx="0">
                  <c:v>İflas yok</c:v>
                </c:pt>
                <c:pt idx="1">
                  <c:v>İflas etiketi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5500</c:v>
                </c:pt>
                <c:pt idx="1">
                  <c:v>410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4140C-5CC8-440E-82DE-A9F0490B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DealLens Finansal Risk Sınıflandırması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F23D9-8C46-4B96-8A2D-8BD50311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5260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0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72"/>
                </a:solidFill>
                <a:latin typeface="Arial"/>
                <a:ea typeface="Arial"/>
                <a:cs typeface="Arial"/>
              </a:rPr>
              <a:t>DealLens   Mustafa Yüksel   8 Ekim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896BC-F0D7-49A6-BB58-647BFB52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5260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0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7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902FD-E16A-4EF0-BA49-75265131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Tarihsel finansal oranlardan bir yıl sonraki iflas etiketi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65385-D144-4440-85D6-A9B0E5F5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67D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7D8D"/>
                </a:solidFill>
                <a:latin typeface="Arial"/>
                <a:ea typeface="Arial"/>
                <a:cs typeface="Arial"/>
              </a:rPr>
              <a:t>Beş oranlı açıklanabilir karar ağacı</a:t>
            </a:r>
          </a:p>
          <a:p xmlns:a="http://schemas.openxmlformats.org/drawingml/2006/main">
            <a:pPr>
              <a:defRPr sz="2100" b="0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7D8D"/>
                </a:solidFill>
                <a:latin typeface="Arial"/>
                <a:ea typeface="Arial"/>
                <a:cs typeface="Arial"/>
              </a:rPr>
              <a:t>64 oranlı CatBoost karşılaştırması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D2C53-1527-4A27-9582-104B48F9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Basitleştirilmiş Python Projesi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7201C-0904-466B-8394-B8AC9137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5260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0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72"/>
                </a:solidFill>
                <a:latin typeface="Arial"/>
                <a:ea typeface="Arial"/>
                <a:cs typeface="Arial"/>
              </a:rPr>
              <a:t>Eğitim amaçlı model skoru gerçek şirket için doğrulanmış iflas yüzdesi değildir.</a:t>
            </a:r>
          </a:p>
        </p:txBody>
      </p:sp>
    </p:spTree>
    <p:extLst>
      <p:ext uri="{BB962C8B-B14F-4D97-AF65-F5344CB8AC3E}">
        <p14:creationId xmlns:p14="http://schemas.microsoft.com/office/powerpoint/2010/main" val="15131348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9AEC8-C158-41A1-88B8-CEC7E9FB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Aynı 5.910 kayıtla iki özellik görünümü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A8F17-2998-4763-8F11-D0AA030D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5260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0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72"/>
                </a:solidFill>
                <a:latin typeface="Arial"/>
                <a:ea typeface="Arial"/>
                <a:cs typeface="Arial"/>
              </a:rPr>
              <a:t>DealLens   Mustafa Yüksel   8 Ekim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FB149-2221-49B0-9904-32F0F411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5260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0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7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0ACF24-E242-4867-8FB6-AD955D95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410 iflas etiketi</a:t>
            </a:r>
          </a:p>
          <a:p xmlns:a="http://schemas.openxmlformats.org/drawingml/2006/main">
            <a:pPr>
              <a:defRPr sz="22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5.500 diğer kayıt</a:t>
            </a:r>
          </a:p>
          <a:p xmlns:a="http://schemas.openxmlformats.org/drawingml/2006/main">
            <a:pPr>
              <a:defRPr sz="22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Pozitif sınıf oranı %6,94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B7F88-7F5E-467E-B9BE-2175C03B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Beş oranlı veri, 64 oranlı verinin aynı satırlarını kullanır. Hiçbir kaynak satır silinmez.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29746135-5F9E-4116-90FD-F48FD3AA77B4}"/>
              </a:ext>
            </a:extLst>
          </p:cNvPr>
          <p:cNvGraphicFramePr/>
          <p:nvPr/>
        </p:nvGraphicFramePr>
        <p:xfrm>
          <a:off xmlns:a="http://schemas.openxmlformats.org/drawingml/2006/main" x="5381625" y="1524000"/>
          <a:ext xmlns:a="http://schemas.openxmlformats.org/drawingml/2006/main" cx="60960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482b7b33804c3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30BD0-7976-46A9-A704-9D507B02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5260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0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072"/>
                </a:solidFill>
                <a:latin typeface="Arial"/>
                <a:ea typeface="Arial"/>
                <a:cs typeface="Arial"/>
              </a:rPr>
              <a:t>Aynı 64 girdili kayıtları aynı bölümde tutuyoruz. Kaynak satır numarası şirket kimliği değildir.</a:t>
            </a:r>
          </a:p>
        </p:txBody>
      </p:sp>
    </p:spTree>
    <p:extLst>
      <p:ext uri="{BB962C8B-B14F-4D97-AF65-F5344CB8AC3E}">
        <p14:creationId xmlns:p14="http://schemas.microsoft.com/office/powerpoint/2010/main" val="6049775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EEA071-796E-4CC9-B12E-42A513D9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Model ve eşik seçimi testten önce tamamlanır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F852C-459A-4059-83FF-7094CC2B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5260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0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72"/>
                </a:solidFill>
                <a:latin typeface="Arial"/>
                <a:ea typeface="Arial"/>
                <a:cs typeface="Arial"/>
              </a:rPr>
              <a:t>DealLens   Mustafa Yüksel   8 Ekim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C7633-00FC-443F-8072-35CE043E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5260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0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7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F9977-FB0C-4C3E-A63F-2BF8759D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D8D"/>
                </a:solidFill>
                <a:latin typeface="Arial"/>
                <a:ea typeface="Arial"/>
                <a:cs typeface="Arial"/>
              </a:rPr>
              <a:t>3.546 eğitim kaydı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AE197-E7E5-4473-8BF8-0A8B1CB9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Üç katlı grup çapraz doğrulama ile model ayarlarını karşılaştırıyoruz.</a:t>
            </a:r>
          </a:p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64 oranlı adaylarda ortalama average precision en yüksek olanı seçiyoruz.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D4FAF-AA04-48B6-91D5-334369C6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D8D"/>
                </a:solidFill>
                <a:latin typeface="Arial"/>
                <a:ea typeface="Arial"/>
                <a:cs typeface="Arial"/>
              </a:rPr>
              <a:t>1.182 doğrulama kaydı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0F64FC-D49E-4784-91A8-DE327EC4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Karar eşiğini F1 ile belirliyoruz. Modeli tekrar eğitmiyoruz.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22F56-A929-45A6-A8C4-7B5956F4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D8D"/>
                </a:solidFill>
                <a:latin typeface="Arial"/>
                <a:ea typeface="Arial"/>
                <a:cs typeface="Arial"/>
              </a:rPr>
              <a:t>1.182 test kaydı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A3C35B-98C2-406B-8B44-332C17A7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587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Seçim kararını kaydettikten sonra bütün modelleri aynı testte ölçüyoruz.</a:t>
            </a:r>
          </a:p>
        </p:txBody>
      </p:sp>
    </p:spTree>
    <p:extLst>
      <p:ext uri="{BB962C8B-B14F-4D97-AF65-F5344CB8AC3E}">
        <p14:creationId xmlns:p14="http://schemas.microsoft.com/office/powerpoint/2010/main" val="318374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E7903-9171-40D0-A53D-16C7A992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CatBoost 82 riskli kaydın 56 tanesini yakaladı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E415A-C6B6-4A3B-B478-3FB6177E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5260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0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72"/>
                </a:solidFill>
                <a:latin typeface="Arial"/>
                <a:ea typeface="Arial"/>
                <a:cs typeface="Arial"/>
              </a:rPr>
              <a:t>DealLens   Mustafa Yüksel   8 Ekim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6BD94-C630-40FA-9FB9-EDB3C917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5260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0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7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304B8-FE24-4BF2-B3B7-17F1AD038F9B}"/>
              </a:ext>
            </a:extLst>
          </p:cNvPr>
          <p:cNvGraphicFramePr/>
          <p:nvPr/>
        </p:nvGraphicFramePr>
        <p:xfrm>
          <a:off xmlns:a="http://schemas.openxmlformats.org/drawingml/2006/main" x="647700" y="1428750"/>
          <a:ext xmlns:a="http://schemas.openxmlformats.org/drawingml/2006/main" cx="10858500" cy="190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71700"/>
                <a:gridCol w="2171700"/>
                <a:gridCol w="2171700"/>
                <a:gridCol w="2171700"/>
                <a:gridCol w="2171700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 marL="91440" marR="91440" marT="45720" marB="4572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 marL="91440" marR="91440" marT="45720" marB="4572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 marL="91440" marR="91440" marT="45720" marB="4572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1440" marR="91440" marT="45720" marB="45720" anchor="ctr">
                    <a:solidFill>
                      <a:srgbClr val="14213D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Çoğunluk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%93,06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%0,00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%0,00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%0,00</a:t>
                      </a:r>
                    </a:p>
                  </a:txBody>
                  <a:tcPr marL="91440" marR="91440" marT="45720" marB="45720" anchor="ctr"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Karar ağacı 5 oran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%90,86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%36,46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%42,68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%39,33</a:t>
                      </a:r>
                    </a:p>
                  </a:txBody>
                  <a:tcPr marL="91440" marR="91440" marT="45720" marB="45720" anchor="ctr"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CatBoost 64 oran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%96,28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%75,68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%68,29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%71,79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4EB81-AB79-4428-96B5-3D9D3791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4000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56 risk yakalandı</a:t>
            </a:r>
          </a:p>
          <a:p xmlns:a="http://schemas.openxmlformats.org/drawingml/2006/main">
            <a:pPr>
              <a:defRPr sz="21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26 risk kaçtı</a:t>
            </a:r>
          </a:p>
          <a:p xmlns:a="http://schemas.openxmlformats.org/drawingml/2006/main">
            <a:pPr>
              <a:defRPr sz="21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18 yanlış alarm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B97FE-78E4-47E3-A4E5-33E08F60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14750"/>
            <a:ext cx="571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167D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7D8D"/>
                </a:solidFill>
                <a:latin typeface="Arial"/>
                <a:ea typeface="Arial"/>
                <a:cs typeface="Arial"/>
              </a:rPr>
              <a:t>Average precision %80.00</a:t>
            </a:r>
          </a:p>
          <a:p xmlns:a="http://schemas.openxmlformats.org/drawingml/2006/main">
            <a:pPr>
              <a:defRPr sz="2025" b="0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7D8D"/>
                </a:solidFill>
                <a:latin typeface="Arial"/>
                <a:ea typeface="Arial"/>
                <a:cs typeface="Arial"/>
              </a:rPr>
              <a:t>ROC AUC %95.64</a:t>
            </a:r>
          </a:p>
          <a:p xmlns:a="http://schemas.openxmlformats.org/drawingml/2006/main">
            <a:pPr>
              <a:defRPr sz="2025" b="0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7D8D"/>
                </a:solidFill>
                <a:latin typeface="Arial"/>
                <a:ea typeface="Arial"/>
                <a:cs typeface="Arial"/>
              </a:rPr>
              <a:t>Karar eşiği 0.3345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54652-C90B-4237-9B00-E707AC4D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5260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0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072"/>
                </a:solidFill>
                <a:latin typeface="Arial"/>
                <a:ea typeface="Arial"/>
                <a:cs typeface="Arial"/>
              </a:rPr>
              <a:t>Accuracy tek başına yeterli değildir. Kaçan riskleri ve yanlış alarmları birlikte değerlendirmek gerekir.</a:t>
            </a:r>
          </a:p>
        </p:txBody>
      </p:sp>
    </p:spTree>
    <p:extLst>
      <p:ext uri="{BB962C8B-B14F-4D97-AF65-F5344CB8AC3E}">
        <p14:creationId xmlns:p14="http://schemas.microsoft.com/office/powerpoint/2010/main" val="10271434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AA985-5995-4DC9-83BC-40BC6BA1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Kullanım ve değerlendirmenin sınırları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2CB243-D8A6-4D69-86D4-4FB88553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5260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0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72"/>
                </a:solidFill>
                <a:latin typeface="Arial"/>
                <a:ea typeface="Arial"/>
                <a:cs typeface="Arial"/>
              </a:rPr>
              <a:t>DealLens   Mustafa Yüksel   8 Ekim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FF115-7A1F-4BBA-B07A-0FA87E32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5260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0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7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CB35B-7D30-438C-9B10-5B829956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Beş girdili mini araç karar ağacını kullanır.</a:t>
            </a:r>
          </a:p>
          <a:p xmlns:a="http://schemas.openxmlformats.org/drawingml/2006/main">
            <a:pPr>
              <a:defRPr sz="21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Gelişmiş model Attr1–Attr64 sütunlarını gerektirir.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13FC1-6916-4523-A2D7-3F963D21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Kaydedilen model ve eşik testte ölçülen sürümle aynıdır.</a:t>
            </a:r>
          </a:p>
          <a:p xmlns:a="http://schemas.openxmlformats.org/drawingml/2006/main">
            <a:pPr>
              <a:defRPr sz="19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Eksik göstergeli ve göstergesiz modeller aynı kayıtlarla karşılaştırılır.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53D80-7989-47C0-BE01-8FA369BC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7D8D"/>
                </a:solidFill>
                <a:latin typeface="Arial"/>
                <a:ea typeface="Arial"/>
                <a:cs typeface="Arial"/>
              </a:rPr>
              <a:t>Bu veri önceki deneylerde incelendi. Yeni veri ayrımı geçmiş maruziyeti ortadan kaldırmaz. Sonuçlar eğitim karşılaştırmasıdır.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40FF5-6F83-4EBA-8CE9-76BE8CC0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75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0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0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072"/>
                </a:solidFill>
                <a:latin typeface="Arial"/>
                <a:ea typeface="Arial"/>
                <a:cs typeface="Arial"/>
              </a:rPr>
              <a:t>Tarihsel Polonya verisi güncel Türkiye şirketlerine doğrudan genellenemez. Gerçek kullanım için şirket tanımları ve bağımsız dış veri gerekir.</a:t>
            </a:r>
          </a:p>
        </p:txBody>
      </p:sp>
    </p:spTree>
    <p:extLst>
      <p:ext uri="{BB962C8B-B14F-4D97-AF65-F5344CB8AC3E}">
        <p14:creationId xmlns:p14="http://schemas.microsoft.com/office/powerpoint/2010/main" val="19546973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2026-10-08T02:31:51.0730000Z</dcterms:created>
  <dcterms:modified xsi:type="dcterms:W3CDTF">2026-10-08T02:31:51.0730000Z</dcterms:modified>
</coreProperties>
</file>